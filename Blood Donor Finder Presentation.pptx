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86090a9a-013b-43d7-9598-862c5b0ca03e.fntdata" /><ns0:Relationship Id="rIdFont21" Type="http://schemas.openxmlformats.org/officeDocument/2006/relationships/font" Target="fonts/7f5d2f86-d748-4da7-9acb-49433797668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205138"/>
            <a:ext cx="10668000" cy="647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205138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395537"/>
            <a:ext cx="10626328" cy="613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8FAFC"/>
                </a:solidFill>
                <a:latin typeface="Plus Jakarta Sans"/>
              </a:rPr>
              <a:t>Blood Donor Finder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237458"/>
            <a:ext cx="65722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A Real-Time Web Platform for Emergency Blood Matching and Voluntary Donor Coordination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2005012"/>
            <a:ext cx="2833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F4444"/>
                </a:solidFill>
                <a:latin typeface="Plus Jakarta Sans"/>
              </a:rPr>
              <a:t>MERN STACK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443263"/>
            <a:ext cx="11715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652813"/>
            <a:ext cx="1171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Plus Jakarta Sans"/>
              </a:rPr>
              <a:t>MERN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0725" y="4443263"/>
            <a:ext cx="2024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Core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0725" y="4652813"/>
            <a:ext cx="2024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Plus Jakarta Sans"/>
              </a:rPr>
              <a:t>Medical Compatibility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2875" y="4443263"/>
            <a:ext cx="1524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2875" y="4652813"/>
            <a:ext cx="1524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Plus Jakarta Sans"/>
              </a:rPr>
              <a:t>JWT Role Access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31962"/>
            <a:ext cx="5257800" cy="1064716"/>
          </a:xfrm>
          <a:prstGeom prst="roundRect">
            <a:avLst>
              <a:gd name="adj" fmla="val 7156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87179"/>
            <a:ext cx="5257800" cy="1064716"/>
          </a:xfrm>
          <a:prstGeom prst="roundRect">
            <a:avLst>
              <a:gd name="adj" fmla="val 71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642395"/>
            <a:ext cx="5257800" cy="1064716"/>
          </a:xfrm>
          <a:prstGeom prst="roundRect">
            <a:avLst>
              <a:gd name="adj" fmla="val 71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131962"/>
            <a:ext cx="38100" cy="106471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387179"/>
            <a:ext cx="38100" cy="1064716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642395"/>
            <a:ext cx="38100" cy="1064716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109787"/>
            <a:ext cx="5257800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109787"/>
            <a:ext cx="5257800" cy="3619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Critical Delays in Emergency Blood Sourcing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303412"/>
            <a:ext cx="62507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Plus Jakarta Sans"/>
              </a:rPr>
              <a:t>Unorganized 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598687"/>
            <a:ext cx="48577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Unverified social posts and phone trees cause critical coordination delays.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558629"/>
            <a:ext cx="62507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Stale Donor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853904"/>
            <a:ext cx="48577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Static contact sheets lack real-time donor availability and donation history.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4813845"/>
            <a:ext cx="62507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Type Incompatibilities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5109120"/>
            <a:ext cx="48577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Strict string searches overlook medically compatible universal donors.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67037"/>
            <a:ext cx="2571750" cy="194310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967037"/>
            <a:ext cx="2571750" cy="194310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867025"/>
            <a:ext cx="2571750" cy="2143125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967037"/>
            <a:ext cx="2571750" cy="194310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KEY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Engineered for High-Speed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412" y="3319462"/>
            <a:ext cx="2524125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DC2626"/>
                </a:solidFill>
                <a:latin typeface="Plus Jakarta Sans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309" y="4043362"/>
            <a:ext cx="26503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Stack 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412" y="4357687"/>
            <a:ext cx="2524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Full MERN integration.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3762" y="3319462"/>
            <a:ext cx="2524125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F172A"/>
                </a:solidFill>
                <a:latin typeface="Plus Jakarta Sans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0659" y="4043362"/>
            <a:ext cx="26503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Blood 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3762" y="4357687"/>
            <a:ext cx="2524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Medical rule matching.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4112" y="3219450"/>
            <a:ext cx="2524125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16A34A"/>
                </a:solidFill>
                <a:latin typeface="Plus Jakarta Sans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1009" y="3943350"/>
            <a:ext cx="26503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CRUD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4112" y="4257675"/>
            <a:ext cx="25241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Instant profile management.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462" y="3319462"/>
            <a:ext cx="2524125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2563EB"/>
                </a:solidFill>
                <a:latin typeface="Plus Jakarta Sans"/>
              </a:rPr>
              <a:t>JWT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1359" y="4043362"/>
            <a:ext cx="26503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Token Guards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462" y="4357687"/>
            <a:ext cx="2524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Role authorization.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67050"/>
            <a:ext cx="2328862" cy="1781175"/>
          </a:xfrm>
          <a:prstGeom prst="roundRect">
            <a:avLst>
              <a:gd name="adj" fmla="val 74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90912" y="3067050"/>
            <a:ext cx="2328862" cy="1781175"/>
          </a:xfrm>
          <a:prstGeom prst="roundRect">
            <a:avLst>
              <a:gd name="adj" fmla="val 74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72225" y="3067050"/>
            <a:ext cx="2328862" cy="1781175"/>
          </a:xfrm>
          <a:prstGeom prst="roundRect">
            <a:avLst>
              <a:gd name="adj" fmla="val 74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53537" y="3067050"/>
            <a:ext cx="2328862" cy="1781175"/>
          </a:xfrm>
          <a:prstGeom prst="roundRect">
            <a:avLst>
              <a:gd name="adj" fmla="val 74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431" y="334327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962" y="3876675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6743" y="3343275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0275" y="3876675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8056" y="3343275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1587" y="3876675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9368" y="3343275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9256" y="3467100"/>
            <a:ext cx="2095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0568" y="3467100"/>
            <a:ext cx="20955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31881" y="3467100"/>
            <a:ext cx="20955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27481" y="3467100"/>
            <a:ext cx="180975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MERN Stack End-to-End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248" y="3952875"/>
            <a:ext cx="253156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React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523" y="4229100"/>
            <a:ext cx="241101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Tailwind dashboard and donor filters.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9560" y="3952875"/>
            <a:ext cx="253156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Express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9835" y="4229100"/>
            <a:ext cx="241101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Route controllers and REST handling.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0873" y="3952875"/>
            <a:ext cx="253156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JWT Auth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1148" y="4229100"/>
            <a:ext cx="241101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Bcrypt encryption and access tokens.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2185" y="3952875"/>
            <a:ext cx="253156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MongoDB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2460" y="4229100"/>
            <a:ext cx="241101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Mongoose models with compound index.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09875"/>
            <a:ext cx="6977508" cy="2219325"/>
          </a:xfrm>
          <a:prstGeom prst="roundRect">
            <a:avLst>
              <a:gd name="adj" fmla="val 60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15708" y="2990850"/>
            <a:ext cx="3766691" cy="1857375"/>
          </a:xfrm>
          <a:prstGeom prst="roundRect">
            <a:avLst>
              <a:gd name="adj" fmla="val 7179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4308" y="4200525"/>
            <a:ext cx="3309491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9125" y="2819400"/>
          <a:ext cx="6958457" cy="22002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720750"/>
                <a:gridCol w="2936081"/>
                <a:gridCol w="2301626"/>
              </a:tblGrid>
              <a:tr h="44005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Recipient Group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Eligible Donor Types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Rule Note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AB+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A+, A-, B+, B-, AB+, AB-, O+, O-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Universal Recipient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A+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A+, A-, O+, O-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Dual Antigen Match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B+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B+, B-, O+, O-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Dual Antigen Match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O-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O-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Universal Donor Supply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TRANSFUSION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Medical Compatibility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4308" y="3257550"/>
            <a:ext cx="414769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Plus Jakarta Sans"/>
              </a:rPr>
              <a:t>Query Acceleration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4308" y="3609975"/>
            <a:ext cx="34047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7F1D1D"/>
                </a:solidFill>
                <a:latin typeface="Plus Jakarta Sans"/>
              </a:rPr>
              <a:t>MongoDB evaluates incoming recipient queries using the compatibility array map: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8608" y="4314825"/>
            <a:ext cx="317614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91B1B"/>
                </a:solidFill>
                <a:latin typeface="monospace"/>
              </a:rPr>
              <a:t>{ $in: COMPATIBILITY_MAP[bloodGroup]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81312"/>
            <a:ext cx="5334000" cy="2076450"/>
          </a:xfrm>
          <a:prstGeom prst="roundRect">
            <a:avLst>
              <a:gd name="adj" fmla="val 64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81312"/>
            <a:ext cx="5334000" cy="2076450"/>
          </a:xfrm>
          <a:prstGeom prst="roundRect">
            <a:avLst>
              <a:gd name="adj" fmla="val 64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95850" y="3167062"/>
            <a:ext cx="771525" cy="219075"/>
          </a:xfrm>
          <a:prstGeom prst="roundRect">
            <a:avLst>
              <a:gd name="adj" fmla="val 2608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53675" y="3167062"/>
            <a:ext cx="952500" cy="219075"/>
          </a:xfrm>
          <a:prstGeom prst="roundRect">
            <a:avLst>
              <a:gd name="adj" fmla="val 26086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SCHEMA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MongoDB Document 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548062"/>
            <a:ext cx="5976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_id: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ObjectId (Primary Key)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786187"/>
            <a:ext cx="5976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name: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String (Required)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4024312"/>
            <a:ext cx="5976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email: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String (Unique, Lowercase)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262437"/>
            <a:ext cx="5976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password: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Bcrypt Hash String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500562"/>
            <a:ext cx="5976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role: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Enum ('user', 'admin')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3548062"/>
            <a:ext cx="5667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bloodGroup: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Enum ('A+', 'O-', ...)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3786187"/>
            <a:ext cx="5667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city / state: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String (Location search)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4024312"/>
            <a:ext cx="5667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contactNumber / email: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Direct 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4262437"/>
            <a:ext cx="5667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isAvailable: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Boolean flag (Live toggle)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4500562"/>
            <a:ext cx="5667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createdBy: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Ref: User ObjectId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157537"/>
            <a:ext cx="196274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Users Collection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72050" y="3205162"/>
            <a:ext cx="7143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Plus Jakarta Sans"/>
              </a:rPr>
              <a:t>Auth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4625" y="3157537"/>
            <a:ext cx="21752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Donors Collection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9875" y="3205162"/>
            <a:ext cx="8953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C2626"/>
                </a:solidFill>
                <a:latin typeface="Plus Jakarta Sans"/>
              </a:rPr>
              <a:t>Indexed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81337"/>
            <a:ext cx="3505200" cy="1752600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81337"/>
            <a:ext cx="3505200" cy="1752600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81337"/>
            <a:ext cx="3505200" cy="1752600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395662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395662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395662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3509962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537" y="3509962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5812" y="3509962"/>
            <a:ext cx="23812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Core Platform Functionality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005262"/>
            <a:ext cx="39754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Instant Filter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319587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Zero-delay multi-field query matching.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4005262"/>
            <a:ext cx="39754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Live Donor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4319587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Immediate availability toggle switches.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4005262"/>
            <a:ext cx="38766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Admin Oversight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4319587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Centralized moderation of all listings.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33687"/>
            <a:ext cx="10972800" cy="217170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9125" y="2843212"/>
          <a:ext cx="10953748" cy="21526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396751"/>
                <a:gridCol w="2171700"/>
                <a:gridCol w="2171253"/>
                <a:gridCol w="5214044"/>
              </a:tblGrid>
              <a:tr h="43053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METHOD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ENDPOINT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ACCESS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DESCRIPTION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POST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F172A"/>
                          </a:solidFill>
                          <a:latin typeface="monospace"/>
                        </a:rPr>
                        <a:t>/api/auth/login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Public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Authenticate user and return signed JWT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GET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F172A"/>
                          </a:solidFill>
                          <a:latin typeface="monospace"/>
                        </a:rPr>
                        <a:t>/api/donors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Public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Query active donors by bloodGroup and city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POST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F172A"/>
                          </a:solidFill>
                          <a:latin typeface="monospace"/>
                        </a:rPr>
                        <a:t>/api/donors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Bearer Token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Register authenticated donor profile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D97706"/>
                          </a:solidFill>
                          <a:latin typeface="Plus Jakarta Sans"/>
                        </a:rPr>
                        <a:t>PUT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F172A"/>
                          </a:solidFill>
                          <a:latin typeface="monospace"/>
                        </a:rPr>
                        <a:t>/api/donors/:id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Owner / Admin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Modify profile fields and availability state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API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Clean REST Endpoints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95650"/>
            <a:ext cx="2571750" cy="140017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3295650"/>
            <a:ext cx="2571750" cy="140017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295650"/>
            <a:ext cx="2571750" cy="140017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3295650"/>
            <a:ext cx="2571750" cy="140017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24025" y="35337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24375" y="35337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24725" y="35337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125075" y="35337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SECURITY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Token-Based Request Life 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533775"/>
            <a:ext cx="62865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1" sz="1200" i="0" u="none">
                <a:solidFill>
                  <a:srgbClr val="DC2626"/>
                </a:solidFill>
                <a:latin typeface="Plus Jakarta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303" y="4010025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Credentials 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787" y="4286250"/>
            <a:ext cx="2619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Client transmits login credentials.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1500" y="3533775"/>
            <a:ext cx="62865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1" sz="1200" i="0" u="none">
                <a:solidFill>
                  <a:srgbClr val="DC2626"/>
                </a:solidFill>
                <a:latin typeface="Plus Jakarta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0653" y="4010025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Bcrypt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6137" y="4286250"/>
            <a:ext cx="2619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Database salted hash check.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81850" y="3533775"/>
            <a:ext cx="62865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1" sz="1200" i="0" u="none">
                <a:solidFill>
                  <a:srgbClr val="DC2626"/>
                </a:solidFill>
                <a:latin typeface="Plus Jakarta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1003" y="4010025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JWT Issuance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6487" y="4286250"/>
            <a:ext cx="2619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Stateless signed bearer token.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82200" y="3533775"/>
            <a:ext cx="62865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1" sz="1200" i="0" u="none">
                <a:solidFill>
                  <a:srgbClr val="DC2626"/>
                </a:solidFill>
                <a:latin typeface="Plus Jakarta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1353" y="4010025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Route Authorization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6837" y="4286250"/>
            <a:ext cx="2619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Role middleware gatekeeper.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Empirical Testing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003" y="3448050"/>
            <a:ext cx="2750343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DC2626"/>
                </a:solidFill>
                <a:latin typeface="Plus Jakarta Sans"/>
              </a:rPr>
              <a:t>&lt; 50ms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003" y="4152900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Query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8003" y="4371975"/>
            <a:ext cx="27503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Indexed compound 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91112" y="3448050"/>
            <a:ext cx="219075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16A34A"/>
                </a:solidFill>
                <a:latin typeface="Plus Jakarta Sans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1112" y="4152900"/>
            <a:ext cx="2190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RBAC Enforcement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1112" y="4371975"/>
            <a:ext cx="2190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Protected foreign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0" y="3448050"/>
            <a:ext cx="2524125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2563EB"/>
                </a:solidFill>
                <a:latin typeface="Plus Jakarta Sans"/>
              </a:rPr>
              <a:t>0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0" y="4152900"/>
            <a:ext cx="25241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Validation Passes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0" y="4371975"/>
            <a:ext cx="2524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All unit test suites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38487"/>
            <a:ext cx="3479750" cy="1638300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3138487"/>
            <a:ext cx="3479750" cy="1638300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3138487"/>
            <a:ext cx="3479750" cy="1638300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System Evolution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443287"/>
            <a:ext cx="31178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C2626"/>
                </a:solidFill>
                <a:latin typeface="Plus Jakarta Sans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4650" y="3443287"/>
            <a:ext cx="31178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C2626"/>
                </a:solidFill>
                <a:latin typeface="Plus Jakarta Sans"/>
              </a:rPr>
              <a:t>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1100" y="3443287"/>
            <a:ext cx="31178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C2626"/>
                </a:solidFill>
                <a:latin typeface="Plus Jakarta Sans"/>
              </a:rPr>
              <a:t>Phase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748087"/>
            <a:ext cx="394209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Geospatial Radius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062412"/>
            <a:ext cx="3098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MongoDB $nearSphere calculations for kilometer radius filtering.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4175" y="3748087"/>
            <a:ext cx="394209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Emergency Dispatch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4175" y="4062412"/>
            <a:ext cx="3098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Twilio SMS automated broadcast to matching voluntary donors.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0625" y="3748087"/>
            <a:ext cx="385137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Hospital 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0625" y="4062412"/>
            <a:ext cx="3098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Verified medical center accounts with urgent requirement flags.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48275" y="4367212"/>
            <a:ext cx="1695450" cy="400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48275" y="4367212"/>
            <a:ext cx="16954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090737"/>
            <a:ext cx="533400" cy="533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2243137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08314" y="2852737"/>
            <a:ext cx="2975371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Plus Jakarta San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1312" y="3586162"/>
            <a:ext cx="642937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Blood Donor Finder — Enabling rapid, medically compatible blood discovery when every minute counts.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6343" y="4567237"/>
            <a:ext cx="2119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CBD5E1"/>
                </a:solidFill>
                <a:latin typeface="Plus Jakarta Sans"/>
              </a:rPr>
              <a:t>Questions &amp; Discussion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11827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6643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11827"/>
                </a:solidFill>
                <a:latin typeface="Plus Jakarta Sans"/>
              </a:rPr>
              <a:t>https://stanfordbloodcenter.org/wp-content/uploads/2021/05/iStock-1196814000.jpg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8250"/>
            <a:ext cx="3000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11827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stanfordbloodcenter.org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